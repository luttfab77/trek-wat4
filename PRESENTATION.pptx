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e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4008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828800"/>
            <a:ext cx="268721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de-AT" sz="4400" b="1" dirty="0">
                <a:solidFill>
                  <a:srgbClr val="FFFFFF"/>
                </a:solidFill>
                <a:latin typeface="Calibri"/>
              </a:rPr>
              <a:t>WAT</a:t>
            </a:r>
            <a:r>
              <a:rPr sz="4400" b="1" dirty="0">
                <a:solidFill>
                  <a:srgbClr val="FFFFFF"/>
                </a:solidFill>
                <a:latin typeface="Calibri"/>
              </a:rPr>
              <a:t>: TREK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C7D2FE"/>
                </a:solidFill>
                <a:latin typeface="Calibri"/>
              </a:rPr>
              <a:t>Test-Setup, CI/CD und Last-Tests an einem realen Reiseplaner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Lukas Bandalo  ·  Fabian Luttenberger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9CA3AF"/>
                </a:solidFill>
                <a:latin typeface="Calibri"/>
              </a:rPr>
              <a:t>Präsentation 27.06.2026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DIE ANWENDUNG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TREK: ein realer Reiseplaner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294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dirty="0">
                <a:solidFill>
                  <a:srgbClr val="4B5563"/>
                </a:solidFill>
                <a:latin typeface="Calibri"/>
              </a:rPr>
              <a:t>▸  Self-hosted,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kollaborativer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Reiseplaner</a:t>
            </a:r>
            <a:endParaRPr sz="1800" b="0" dirty="0">
              <a:solidFill>
                <a:srgbClr val="4B556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4B5563"/>
                </a:solidFill>
                <a:latin typeface="Calibri"/>
              </a:rPr>
              <a:t>▸  Karten und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Tagesplan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, Budget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mit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 Kostenteilung, Vacay,</a:t>
            </a:r>
            <a:r>
              <a:rPr lang="de-AT" dirty="0">
                <a:solidFill>
                  <a:srgbClr val="4B5563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Journal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 dirty="0">
                <a:solidFill>
                  <a:srgbClr val="4F46E5"/>
                </a:solidFill>
                <a:latin typeface="Calibri"/>
              </a:rPr>
              <a:t>Stack</a:t>
            </a: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4B5563"/>
                </a:solidFill>
                <a:latin typeface="Calibri"/>
              </a:rPr>
              <a:t>▸ 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NestJS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 11 + SQLite, React 19 + Vite,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npm-Monorepo</a:t>
            </a:r>
            <a:endParaRPr sz="1800" b="0" dirty="0">
              <a:solidFill>
                <a:srgbClr val="4B5563"/>
              </a:solidFill>
              <a:latin typeface="Calibri"/>
            </a:endParaRP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 dirty="0" err="1">
                <a:solidFill>
                  <a:srgbClr val="4F46E5"/>
                </a:solidFill>
                <a:latin typeface="Calibri"/>
              </a:rPr>
              <a:t>Warum</a:t>
            </a:r>
            <a:r>
              <a:rPr sz="1700" b="1" dirty="0">
                <a:solidFill>
                  <a:srgbClr val="4F46E5"/>
                </a:solidFill>
                <a:latin typeface="Calibri"/>
              </a:rPr>
              <a:t> TREK</a:t>
            </a: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4B5563"/>
                </a:solidFill>
                <a:latin typeface="Calibri"/>
              </a:rPr>
              <a:t>▸  Echte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Geschäftslogik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: Settlement,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Tagesgenerierung</a:t>
            </a:r>
            <a:r>
              <a:rPr sz="1800" b="0" dirty="0">
                <a:solidFill>
                  <a:srgbClr val="4B5563"/>
                </a:solidFill>
                <a:latin typeface="Calibri"/>
              </a:rPr>
              <a:t>, Auth, </a:t>
            </a:r>
            <a:r>
              <a:rPr sz="1800" b="0" dirty="0" err="1">
                <a:solidFill>
                  <a:srgbClr val="4B5563"/>
                </a:solidFill>
                <a:latin typeface="Calibri"/>
              </a:rPr>
              <a:t>Mehrwährung</a:t>
            </a:r>
            <a:endParaRPr sz="1800" b="0" dirty="0">
              <a:solidFill>
                <a:srgbClr val="4B5563"/>
              </a:solidFill>
              <a:latin typeface="Calibri"/>
            </a:endParaRPr>
          </a:p>
        </p:txBody>
      </p:sp>
      <p:pic>
        <p:nvPicPr>
          <p:cNvPr id="6" name="Picture 5" descr="trip-pl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360295"/>
            <a:ext cx="5029200" cy="314325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b="0" dirty="0">
                <a:solidFill>
                  <a:srgbClr val="6B7280"/>
                </a:solidFill>
                <a:latin typeface="Calibri"/>
              </a:rPr>
              <a:t>| 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STRATEGIE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Ausgangslage und unsere Strategie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Upstream hat schon ~390 Tests (Vitest + Playwright), 80% Coverage-Gate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Angabe erlaubt zwei Wege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1) Coverage messen und ungetesteten Code ergänzen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2) eigene Tests mit einem anderen Framework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Unsere Wahl: Weg 2 plus Kernfunktionen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Jest statt Vitest, Cypress statt Playwright, k6 (zuvor kein Last-Tool)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Eigene Ordner, keine Kollision mit dem Upstream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MENGENGERÜST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Testpyramide: 11 pro Person, 22 gesamt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Pro Person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5 Unit, 3 Integration, 2 E2E, 1 Load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Domänen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Lukas: Budget, Trips, Places, Reservations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Fabian: Auth, Währung und Distanz, Vacay, Journey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Jeder besitzt seine Domäne über alle Ebenen</a:t>
            </a:r>
          </a:p>
        </p:txBody>
      </p:sp>
      <p:pic>
        <p:nvPicPr>
          <p:cNvPr id="6" name="Picture 5" descr="test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55520"/>
            <a:ext cx="5029200" cy="335280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DOMÄNE BUDGET / TRIPS /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Was und warum: Lukas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Unit (Kern-Geschäftslogik)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Settlement: wer schuldet wem, Mehrwährung, 3-Wege-Rundung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Tagesgenerierung aus Datumsbereich, Reservierungs-Tagzuordnung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Integration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Budget-, Places-, Trips-API mit Permission-Pfaden (403/404) und Isolation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E2E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Trip anlegen, Place im Planner hinzufügen, Persistenz nach Reload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</a:t>
            </a:r>
            <a:r>
              <a:rPr lang="de-AT" sz="1000" b="0" dirty="0">
                <a:solidFill>
                  <a:srgbClr val="6B7280"/>
                </a:solidFill>
                <a:latin typeface="Calibri"/>
              </a:rPr>
              <a:t> 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DOMÄNE AUTH / WÄHRUNG / VACAY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Was und warum: Fabian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Unit (Kern-Geschäftslogik)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Währungsumrechnung mit Caching und Fallback, Passwort-Policy (Security)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Flugdistanz (Haversine), Urlaubsstatistik, Journey-Lifecycle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Integration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Login setzt Session und schaltet /me frei, Falsch-Login 401, Vacay-Toggle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E2E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Falsch-Login zeigt Fehler, eingeloggte Session erreicht das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Wie getestet: Unit und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Jest mit @swc/jest, damit NestJS-Decorators und DI im Test funktionieren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Integration mit Supertest gegen die echte NestApp, ohne echten Port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Isolation pro Testdatei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Eigene In-Memory-SQLite, DB/Config/WebSocket via jest.mock ersetzt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Frische App pro Datei, eigene Entitäten pro Test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Determinismus: Fake-Timer, jest.resetModules, jest.spyOn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b="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Wie getestet: E2E und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Cypress fährt ein frisch geseedetes Wegwerf-Backend selbst hoch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cy.login behandelt den erzwungenen Erst-Passwortwechsel deterministisch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cacheAcrossSpecs: Login-Setup läuft nur einmal pro Lauf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Sichtbares Ergebnis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4B5563"/>
                </a:solidFill>
                <a:latin typeface="Calibri"/>
              </a:rPr>
              <a:t>▸  HTML-Report als CI-Artefakt, plus Screenshots bei Fehlern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AUTOMATISIERUNG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CI/CD: eigener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wat-tests.yml, getrennt vom Upstream, läuft bei jedem PR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Vier Jobs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jest-server, jest-client, cypress, k6-load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Artefakte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Coverage, Cypress-HTML-Report, k6-Summaries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4B5563"/>
                </a:solidFill>
                <a:latin typeface="Calibri"/>
              </a:rPr>
              <a:t>▸  k6-Reihenfolge: smoke, trips-read, dann auth-login</a:t>
            </a:r>
          </a:p>
        </p:txBody>
      </p:sp>
      <p:pic>
        <p:nvPicPr>
          <p:cNvPr id="6" name="Picture 5" descr="ci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51760"/>
            <a:ext cx="5029200" cy="256032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LAST-TESTS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Last-Tests mit k6: Art und Zweck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2328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 dirty="0">
                <a:solidFill>
                  <a:srgbClr val="4F46E5"/>
                </a:solidFill>
                <a:latin typeface="Calibri"/>
              </a:rPr>
              <a:t>auth-login: Spike, bis 50 VUs</a:t>
            </a:r>
          </a:p>
          <a:p>
            <a:pPr>
              <a:spcAft>
                <a:spcPts val="800"/>
              </a:spcAft>
            </a:pPr>
            <a:r>
              <a:rPr sz="1700" b="0" dirty="0">
                <a:solidFill>
                  <a:srgbClr val="4B5563"/>
                </a:solidFill>
                <a:latin typeface="Calibri"/>
              </a:rPr>
              <a:t>▸  Login-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Pfad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stresst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bcrypt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 und den Rate-Limiter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 dirty="0">
                <a:solidFill>
                  <a:srgbClr val="4F46E5"/>
                </a:solidFill>
                <a:latin typeface="Calibri"/>
              </a:rPr>
              <a:t>trips-read: Ramp, bis 20 VUs</a:t>
            </a:r>
          </a:p>
          <a:p>
            <a:pPr>
              <a:spcAft>
                <a:spcPts val="800"/>
              </a:spcAft>
            </a:pPr>
            <a:r>
              <a:rPr sz="1700" b="0" dirty="0">
                <a:solidFill>
                  <a:srgbClr val="4B5563"/>
                </a:solidFill>
                <a:latin typeface="Calibri"/>
              </a:rPr>
              <a:t>▸  Lese-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Latenz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 auf /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api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/trips 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unter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steigender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 Last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700" b="1" dirty="0">
                <a:solidFill>
                  <a:srgbClr val="4F46E5"/>
                </a:solidFill>
                <a:latin typeface="Calibri"/>
              </a:rPr>
              <a:t>smoke</a:t>
            </a:r>
          </a:p>
          <a:p>
            <a:pPr>
              <a:spcAft>
                <a:spcPts val="800"/>
              </a:spcAft>
            </a:pPr>
            <a:r>
              <a:rPr sz="1700" b="0" dirty="0">
                <a:solidFill>
                  <a:srgbClr val="4B5563"/>
                </a:solidFill>
                <a:latin typeface="Calibri"/>
              </a:rPr>
              <a:t>▸  Baseline </a:t>
            </a:r>
            <a:r>
              <a:rPr sz="1700" b="0" dirty="0" err="1">
                <a:solidFill>
                  <a:srgbClr val="4B5563"/>
                </a:solidFill>
                <a:latin typeface="Calibri"/>
              </a:rPr>
              <a:t>gegen</a:t>
            </a:r>
            <a:r>
              <a:rPr sz="1700" b="0" dirty="0">
                <a:solidFill>
                  <a:srgbClr val="4B5563"/>
                </a:solidFill>
                <a:latin typeface="Calibri"/>
              </a:rPr>
              <a:t> /health</a:t>
            </a:r>
          </a:p>
        </p:txBody>
      </p:sp>
      <p:pic>
        <p:nvPicPr>
          <p:cNvPr id="6" name="Picture 5" descr="authloginspi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32409"/>
            <a:ext cx="5029200" cy="1958741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pic>
        <p:nvPicPr>
          <p:cNvPr id="7" name="Picture 6" descr="tripsreadramp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026969"/>
            <a:ext cx="5029200" cy="1958741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ERGEBNISSE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Last-Test-Ergebnisse und Analyse</a:t>
            </a:r>
          </a:p>
        </p:txBody>
      </p:sp>
      <p:pic>
        <p:nvPicPr>
          <p:cNvPr id="5" name="Picture 4" descr="authloginverteil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79056"/>
            <a:ext cx="5486400" cy="2425566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pic>
        <p:nvPicPr>
          <p:cNvPr id="6" name="Picture 5" descr="tripsread-end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55648"/>
            <a:ext cx="5486400" cy="3072384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5074920"/>
            <a:ext cx="1115568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>
                <a:solidFill>
                  <a:srgbClr val="4B5563"/>
                </a:solidFill>
                <a:latin typeface="Calibri"/>
              </a:rPr>
              <a:t>auth-login</a:t>
            </a:r>
            <a:r>
              <a:rPr lang="de-AT" sz="1500" b="0" dirty="0">
                <a:solidFill>
                  <a:srgbClr val="4B5563"/>
                </a:solidFill>
                <a:latin typeface="Calibri"/>
              </a:rPr>
              <a:t>: </a:t>
            </a:r>
            <a:r>
              <a:rPr lang="de-AT" sz="1500" dirty="0">
                <a:solidFill>
                  <a:srgbClr val="4B5563"/>
                </a:solidFill>
                <a:latin typeface="Calibri"/>
              </a:rPr>
              <a:t>ca. 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100 % HTTP 429, der Rate-Limiter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wirft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den Spike ab, bevor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bcrypt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läuft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. p95 6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ms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, 0 % 5xx.</a:t>
            </a:r>
          </a:p>
          <a:p>
            <a:r>
              <a:rPr sz="1500" b="0" dirty="0">
                <a:solidFill>
                  <a:srgbClr val="4B5563"/>
                </a:solidFill>
                <a:latin typeface="Calibri"/>
              </a:rPr>
              <a:t>trips-read: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authentifizierte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Reads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bleiben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unter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Last schnell, p95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rund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6 </a:t>
            </a:r>
            <a:r>
              <a:rPr sz="1500" b="0" dirty="0" err="1">
                <a:solidFill>
                  <a:srgbClr val="4B5563"/>
                </a:solidFill>
                <a:latin typeface="Calibri"/>
              </a:rPr>
              <a:t>ms</a:t>
            </a:r>
            <a:r>
              <a:rPr sz="1500" b="0" dirty="0">
                <a:solidFill>
                  <a:srgbClr val="4B5563"/>
                </a:solidFill>
                <a:latin typeface="Calibri"/>
              </a:rPr>
              <a:t> pro Endpoint, 0 % Fehler.</a:t>
            </a:r>
          </a:p>
          <a:p>
            <a:r>
              <a:rPr sz="1500" b="1" dirty="0">
                <a:solidFill>
                  <a:srgbClr val="4F46E5"/>
                </a:solidFill>
                <a:latin typeface="Calibri"/>
              </a:rPr>
              <a:t>Fazit: </a:t>
            </a:r>
            <a:r>
              <a:rPr sz="1500" b="1" dirty="0" err="1">
                <a:solidFill>
                  <a:srgbClr val="4F46E5"/>
                </a:solidFill>
                <a:latin typeface="Calibri"/>
              </a:rPr>
              <a:t>Engpass</a:t>
            </a:r>
            <a:r>
              <a:rPr sz="1500" b="1" dirty="0">
                <a:solidFill>
                  <a:srgbClr val="4F46E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4F46E5"/>
                </a:solidFill>
                <a:latin typeface="Calibri"/>
              </a:rPr>
              <a:t>ist</a:t>
            </a:r>
            <a:r>
              <a:rPr sz="1500" b="1" dirty="0">
                <a:solidFill>
                  <a:srgbClr val="4F46E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4F46E5"/>
                </a:solidFill>
                <a:latin typeface="Calibri"/>
              </a:rPr>
              <a:t>bewusst</a:t>
            </a:r>
            <a:r>
              <a:rPr sz="1500" b="1" dirty="0">
                <a:solidFill>
                  <a:srgbClr val="4F46E5"/>
                </a:solidFill>
                <a:latin typeface="Calibri"/>
              </a:rPr>
              <a:t> der Limiter, nicht der Hash-</a:t>
            </a:r>
            <a:r>
              <a:rPr sz="1500" b="1" dirty="0" err="1">
                <a:solidFill>
                  <a:srgbClr val="4F46E5"/>
                </a:solidFill>
                <a:latin typeface="Calibri"/>
              </a:rPr>
              <a:t>Pfad</a:t>
            </a:r>
            <a:r>
              <a:rPr sz="1500" b="1" dirty="0">
                <a:solidFill>
                  <a:srgbClr val="4F46E5"/>
                </a:solidFill>
                <a:latin typeface="Calibri"/>
              </a:rPr>
              <a:t>. Reads </a:t>
            </a:r>
            <a:r>
              <a:rPr sz="1500" b="1" dirty="0" err="1">
                <a:solidFill>
                  <a:srgbClr val="4F46E5"/>
                </a:solidFill>
                <a:latin typeface="Calibri"/>
              </a:rPr>
              <a:t>skalieren</a:t>
            </a:r>
            <a:r>
              <a:rPr sz="1500" b="1" dirty="0">
                <a:solidFill>
                  <a:srgbClr val="4F46E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4F46E5"/>
                </a:solidFill>
                <a:latin typeface="Calibri"/>
              </a:rPr>
              <a:t>sauber</a:t>
            </a:r>
            <a:r>
              <a:rPr sz="1500" b="1" dirty="0">
                <a:solidFill>
                  <a:srgbClr val="4F46E5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 dirty="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Calibri"/>
              </a:rPr>
              <a:t>ABSCHLUSS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F2937"/>
                </a:solidFill>
                <a:latin typeface="Calibri"/>
              </a:rPr>
              <a:t>Fazit: getestet, isoliert, automatisiert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84448" cy="292608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19456" rIns="219456" bIns="164592" rtlCol="0" anchor="ctr"/>
          <a:lstStyle/>
          <a:p>
            <a:pPr algn="ctr"/>
            <a:r>
              <a:rPr sz="1900" b="1" dirty="0">
                <a:solidFill>
                  <a:srgbClr val="FFFFFF"/>
                </a:solidFill>
                <a:latin typeface="Calibri"/>
              </a:rPr>
              <a:t>Nicht </a:t>
            </a:r>
            <a:r>
              <a:rPr sz="1900" b="1" dirty="0" err="1">
                <a:solidFill>
                  <a:srgbClr val="FFFFFF"/>
                </a:solidFill>
                <a:latin typeface="Calibri"/>
              </a:rPr>
              <a:t>nur</a:t>
            </a:r>
            <a:r>
              <a:rPr sz="1900" b="1" dirty="0">
                <a:solidFill>
                  <a:srgbClr val="FFFFFF"/>
                </a:solidFill>
                <a:latin typeface="Calibri"/>
              </a:rPr>
              <a:t> Happy-Path</a:t>
            </a:r>
          </a:p>
          <a:p>
            <a:pPr>
              <a:spcBef>
                <a:spcPts val="1000"/>
              </a:spcBef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Wir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testen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gezielt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riskanten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Stellen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Berechtigungen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(403/404),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Falsch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-Login (401) und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Randfälle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wie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Rundung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Stornos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oder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Ausfall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des Kurs-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Dienstes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8848" y="1920240"/>
            <a:ext cx="3584448" cy="292608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19456" rIns="219456" bIns="164592" rtlCol="0" anchor="ctr"/>
          <a:lstStyle/>
          <a:p>
            <a:pPr algn="ctr"/>
            <a:r>
              <a:rPr sz="1900" b="1" dirty="0" err="1">
                <a:solidFill>
                  <a:srgbClr val="FFFFFF"/>
                </a:solidFill>
                <a:latin typeface="Calibri"/>
              </a:rPr>
              <a:t>Isoliert</a:t>
            </a:r>
            <a:r>
              <a:rPr sz="1900" b="1" dirty="0">
                <a:solidFill>
                  <a:srgbClr val="FFFFFF"/>
                </a:solidFill>
                <a:latin typeface="Calibri"/>
              </a:rPr>
              <a:t> und </a:t>
            </a:r>
            <a:r>
              <a:rPr sz="1900" b="1" dirty="0" err="1">
                <a:solidFill>
                  <a:srgbClr val="FFFFFF"/>
                </a:solidFill>
                <a:latin typeface="Calibri"/>
              </a:rPr>
              <a:t>automatisiert</a:t>
            </a:r>
            <a:endParaRPr sz="1900" b="1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sz="1300" b="0" dirty="0" err="1">
                <a:solidFill>
                  <a:srgbClr val="FFFFFF"/>
                </a:solidFill>
                <a:latin typeface="Calibri"/>
              </a:rPr>
              <a:t>Eigener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Teststack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neben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rund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390</a:t>
            </a:r>
            <a:r>
              <a:rPr lang="de-AT"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Bestandstests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ohne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Kollision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Jeder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Test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mit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eigener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In-Memory-DB. Bei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jedem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PR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grün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mit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Report-, Coverage- und k6-Artefakten.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7615" y="1920240"/>
            <a:ext cx="3584448" cy="2926080"/>
          </a:xfrm>
          <a:prstGeom prst="roundRect">
            <a:avLst>
              <a:gd name="adj" fmla="val 6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19456" rIns="219456" bIns="164592" rtlCol="0" anchor="ctr"/>
          <a:lstStyle/>
          <a:p>
            <a:pPr algn="ctr"/>
            <a:r>
              <a:rPr sz="1900" b="1" dirty="0">
                <a:solidFill>
                  <a:srgbClr val="FFFFFF"/>
                </a:solidFill>
                <a:latin typeface="Calibri"/>
              </a:rPr>
              <a:t>Schutz </a:t>
            </a:r>
            <a:r>
              <a:rPr sz="1900" b="1" dirty="0" err="1">
                <a:solidFill>
                  <a:srgbClr val="FFFFFF"/>
                </a:solidFill>
                <a:latin typeface="Calibri"/>
              </a:rPr>
              <a:t>nachgewiesen</a:t>
            </a:r>
            <a:endParaRPr sz="1900" b="1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Login-Spike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mit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50 VUs: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nur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10 von 447.306 Logins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kamen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durch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. Der Rate-Limiter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fängt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den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Ansturm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ab, bevor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bcrypt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läuft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. p95 6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ms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, 0 Fehler.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130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6B7280"/>
                </a:solidFill>
                <a:latin typeface="Calibri"/>
              </a:rPr>
              <a:t>TREK </a:t>
            </a:r>
            <a:r>
              <a:rPr lang="de-AT" sz="1000">
                <a:solidFill>
                  <a:srgbClr val="6B7280"/>
                </a:solidFill>
                <a:latin typeface="Calibri"/>
              </a:rPr>
              <a:t>| WAT</a:t>
            </a:r>
            <a:endParaRPr sz="10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739</Words>
  <Application>Microsoft Macintosh PowerPoint</Application>
  <PresentationFormat>Breitbild</PresentationFormat>
  <Paragraphs>113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Luttenberger Fabian - s2410307023</cp:lastModifiedBy>
  <cp:revision>4</cp:revision>
  <dcterms:created xsi:type="dcterms:W3CDTF">2013-01-27T09:14:16Z</dcterms:created>
  <dcterms:modified xsi:type="dcterms:W3CDTF">2026-06-26T16:07:15Z</dcterms:modified>
  <cp:category/>
</cp:coreProperties>
</file>