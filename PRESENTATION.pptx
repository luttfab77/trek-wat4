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rek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64008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268721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AT" sz="4400" b="1" dirty="0">
                <a:solidFill>
                  <a:srgbClr val="FFFFFF"/>
                </a:solidFill>
                <a:latin typeface="Calibri"/>
              </a:rPr>
              <a:t>WAT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: TREK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C7D2FE"/>
                </a:solidFill>
                <a:latin typeface="Calibri"/>
              </a:rPr>
              <a:t>Test-Setup, CI/CD und Last-Tests an einem realen Reiseplaner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408355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FFFFFF"/>
                </a:solidFill>
                <a:latin typeface="Calibri"/>
              </a:rPr>
              <a:t>Lukas </a:t>
            </a:r>
            <a:r>
              <a:rPr sz="2000" b="1" dirty="0" err="1">
                <a:solidFill>
                  <a:srgbClr val="FFFFFF"/>
                </a:solidFill>
                <a:latin typeface="Calibri"/>
              </a:rPr>
              <a:t>Bandalo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    Fabian Luttenberger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9CA3AF"/>
                </a:solidFill>
                <a:latin typeface="Calibri"/>
              </a:rPr>
              <a:t>Präsentation 27.06.2026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DIE ANWENDUNG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TREK: ein realer Reiseplaner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Self-hosted, kollaborativer Reiseplaner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Karten und Tagesplan, Budget mit Kostenteilung, Vacay, Journal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Stack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NestJS 11 + SQLite, React 19 + Vite, npm-Monorepo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Warum TREK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Echte Geschäftslogik: Settlement, Tagesgenerierung, Auth, Mehrwährung</a:t>
            </a:r>
          </a:p>
        </p:txBody>
      </p:sp>
      <p:pic>
        <p:nvPicPr>
          <p:cNvPr id="6" name="Picture 5" descr="trip-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60295"/>
            <a:ext cx="5029200" cy="314325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STRATEGIE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Ausgangslage und unsere Strategie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dirty="0">
                <a:solidFill>
                  <a:srgbClr val="4B5563"/>
                </a:solidFill>
                <a:latin typeface="Calibri"/>
              </a:rPr>
              <a:t>▸  Upstream hat 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schon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 </a:t>
            </a:r>
            <a:r>
              <a:rPr lang="de-AT" sz="2000" b="0" dirty="0">
                <a:solidFill>
                  <a:srgbClr val="4B5563"/>
                </a:solidFill>
                <a:latin typeface="Calibri"/>
              </a:rPr>
              <a:t>ca. 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390 Tests (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Vitest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 + Playwright), 80% Coverage-Gate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800" b="1" dirty="0">
                <a:solidFill>
                  <a:srgbClr val="4F46E5"/>
                </a:solidFill>
                <a:latin typeface="Calibri"/>
              </a:rPr>
              <a:t>Unsere </a:t>
            </a:r>
            <a:r>
              <a:rPr sz="1800" b="1">
                <a:solidFill>
                  <a:srgbClr val="4F46E5"/>
                </a:solidFill>
                <a:latin typeface="Calibri"/>
              </a:rPr>
              <a:t>Wahl:</a:t>
            </a:r>
            <a:endParaRPr lang="de-AT" sz="1800" b="1" dirty="0">
              <a:solidFill>
                <a:srgbClr val="4F46E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de-AT" sz="2000" b="0" dirty="0">
                <a:solidFill>
                  <a:srgbClr val="4B5563"/>
                </a:solidFill>
                <a:latin typeface="Calibri"/>
              </a:rPr>
              <a:t>▸  Jest statt </a:t>
            </a:r>
            <a:r>
              <a:rPr lang="de-AT" sz="2000" b="0" dirty="0" err="1">
                <a:solidFill>
                  <a:srgbClr val="4B5563"/>
                </a:solidFill>
                <a:latin typeface="Calibri"/>
              </a:rPr>
              <a:t>Vitest</a:t>
            </a:r>
            <a:r>
              <a:rPr lang="de-AT" sz="2000" b="0" dirty="0">
                <a:solidFill>
                  <a:srgbClr val="4B5563"/>
                </a:solidFill>
                <a:latin typeface="Calibri"/>
              </a:rPr>
              <a:t>, Cypress statt </a:t>
            </a:r>
            <a:r>
              <a:rPr lang="de-AT" sz="2000" b="0" dirty="0" err="1">
                <a:solidFill>
                  <a:srgbClr val="4B5563"/>
                </a:solidFill>
                <a:latin typeface="Calibri"/>
              </a:rPr>
              <a:t>Playwright</a:t>
            </a:r>
            <a:r>
              <a:rPr lang="de-AT" sz="2000" b="0" dirty="0">
                <a:solidFill>
                  <a:srgbClr val="4B5563"/>
                </a:solidFill>
                <a:latin typeface="Calibri"/>
              </a:rPr>
              <a:t>, k6 (zuvor kein Last-Tool)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4B5563"/>
                </a:solidFill>
                <a:latin typeface="Calibri"/>
              </a:rPr>
              <a:t>▸  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Eigene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 Ordner, 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keine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Kollision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Calibri"/>
              </a:rPr>
              <a:t>mit</a:t>
            </a:r>
            <a:r>
              <a:rPr sz="2000" b="0" dirty="0">
                <a:solidFill>
                  <a:srgbClr val="4B5563"/>
                </a:solidFill>
                <a:latin typeface="Calibri"/>
              </a:rPr>
              <a:t> dem Upstream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MENGENGERÜST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Testpyramide: 11 pro Person, 22 gesamt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Pro Person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5 Unit, 3 Integration, 2 E2E, 1 Load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Domänen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Lukas: Budget, Trips, Places, Reservations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Fabian: Auth, Währung und Distanz, Vacay, Journey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Jeder besitzt seine Domäne über alle Ebenen</a:t>
            </a:r>
          </a:p>
        </p:txBody>
      </p:sp>
      <p:pic>
        <p:nvPicPr>
          <p:cNvPr id="6" name="Picture 5" descr="test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55520"/>
            <a:ext cx="5029200" cy="335280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DOMÄNE BUDGET / TRIPS / PLACES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3139577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 dirty="0">
                <a:solidFill>
                  <a:srgbClr val="1F2937"/>
                </a:solidFill>
                <a:latin typeface="Calibri"/>
              </a:rPr>
              <a:t>Was, </a:t>
            </a:r>
            <a:r>
              <a:rPr sz="3100" b="1" dirty="0" err="1">
                <a:solidFill>
                  <a:srgbClr val="1F2937"/>
                </a:solidFill>
                <a:latin typeface="Calibri"/>
              </a:rPr>
              <a:t>warum</a:t>
            </a:r>
            <a:r>
              <a:rPr sz="3100" b="1" dirty="0">
                <a:solidFill>
                  <a:srgbClr val="1F2937"/>
                </a:solidFill>
                <a:latin typeface="Calibri"/>
              </a:rPr>
              <a:t>, </a:t>
            </a:r>
            <a:r>
              <a:rPr sz="3100" b="1" dirty="0" err="1">
                <a:solidFill>
                  <a:srgbClr val="1F2937"/>
                </a:solidFill>
                <a:latin typeface="Calibri"/>
              </a:rPr>
              <a:t>wie</a:t>
            </a:r>
            <a:endParaRPr sz="3100" b="1" dirty="0">
              <a:solidFill>
                <a:srgbClr val="1F2937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Was geprüft</a:t>
                      </a:r>
                    </a:p>
                  </a:txBody>
                  <a:tcPr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Warum</a:t>
                      </a:r>
                    </a:p>
                  </a:txBody>
                  <a:tcPr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Wie getestet</a:t>
                      </a:r>
                    </a:p>
                  </a:txBody>
                  <a:tcPr marL="64008" marR="64008" marT="27432" marB="27432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budget-settlement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Wer schuldet wem, Mehrzahler, 3-Wege-Rundung, Settle-up, Mehrwährung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Herz der Kostenteilung, ein Rundungsfehler bedeutet falsches Geld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DB gemockt, mehrere Szenarien gegen exakt erwartete Beträge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budget-summary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Pro-Person-Summe, bezahlte Anteile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Falsche Summen führen zu falscher Abrechnung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DB gemockt, Summen und paid-Anteile gegen Sollwerte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reservation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Tag-Zuordnung einer Buchung, Löschen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Buchung muss am richtigen Tag erscheinen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In-Memory-DB, Datumsgrenzen + Hotel-Sonderfall, Löschen prüft Rückgabewert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trip-generatedays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Tage aus Datumsbereich, Randfälle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Grundlage des gesamten Tagesplans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DB gemockt, 1-Tages-Trip, maxDays-Deckel, dateless-Plan neu datieren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formatters (Client)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Geld- und Ortsanzeige, dayTotalCost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Währung lokal korrekt darstellen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 (jsdom), reine Funktionen, mehrere Währungen und Locales, it.each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Integration budget/places/trips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CRUD plus Berechtigungen (403/404), Nutzer-Isolation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Niemand darf fremde Daten sehen oder ändern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Supertest gegen echte NestApp, In-Memory-DB, Cookie je Rolle, Statuscodes geprüft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E2E trip-create, planner-add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Trip anlegen, Ort im Planner hinzufügen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Der Hauptflow muss real funktionieren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Cypress im Browser gegen geseedetes Backend, anlegen, Reload, Element sichtbar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Load trips-read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Lese-Latenz unter steigender Last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Bleibt Browsen unter Last schnell?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k6 Ramp bis 20 VUs, Bearer-Token, p95- und Fehler-Schwellen pro Endpoint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DOMÄNE AUTH / WÄHRUNG / VACAY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3139577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 dirty="0">
                <a:solidFill>
                  <a:srgbClr val="1F2937"/>
                </a:solidFill>
                <a:latin typeface="Calibri"/>
              </a:rPr>
              <a:t>Was, </a:t>
            </a:r>
            <a:r>
              <a:rPr sz="3100" b="1" dirty="0" err="1">
                <a:solidFill>
                  <a:srgbClr val="1F2937"/>
                </a:solidFill>
                <a:latin typeface="Calibri"/>
              </a:rPr>
              <a:t>warum</a:t>
            </a:r>
            <a:r>
              <a:rPr sz="3100" b="1" dirty="0">
                <a:solidFill>
                  <a:srgbClr val="1F2937"/>
                </a:solidFill>
                <a:latin typeface="Calibri"/>
              </a:rPr>
              <a:t>, </a:t>
            </a:r>
            <a:r>
              <a:rPr sz="3100" b="1" dirty="0" err="1">
                <a:solidFill>
                  <a:srgbClr val="1F2937"/>
                </a:solidFill>
                <a:latin typeface="Calibri"/>
              </a:rPr>
              <a:t>wie</a:t>
            </a:r>
            <a:endParaRPr sz="3100" b="1" dirty="0">
              <a:solidFill>
                <a:srgbClr val="1F2937"/>
              </a:solidFill>
              <a:latin typeface="Calibr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13385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Was geprüft</a:t>
                      </a:r>
                    </a:p>
                  </a:txBody>
                  <a:tcPr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Warum</a:t>
                      </a:r>
                    </a:p>
                  </a:txBody>
                  <a:tcPr marL="64008" marR="64008" marT="27432" marB="27432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Wie getestet</a:t>
                      </a:r>
                    </a:p>
                  </a:txBody>
                  <a:tcPr marL="64008" marR="64008" marT="27432" marB="27432">
                    <a:solidFill>
                      <a:srgbClr val="4F4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exchangeRateService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Kurse holen, cachen, Fehler abfangen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Basis der Umrechnung, darf bei Ausfall nicht crashen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global fetch via jest.spyOn gemockt, resetModules gegen Cache, Erfolg/Fehler/Cache-Treffer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passwordPolicy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Längen-, Komplexitäts-, Common-Regeln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Security, schwache Passwörter ablehnen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reine Funktion, parametrisiert via it.each (1 gültig + 8 Ablehnungsgründe)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distanceService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Flugdistanz (Haversine), Stornos ignorieren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Korrekte Reisestatistik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In-Memory-DB seedet Flüge und Endpunkte, Distanz gegen bekannten Wert (111 km)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vacayService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Urlaubstage verbraucht und übrig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Falsche Resttage wären wertlos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In-Memory-DB, Plan und Einträge geseedet, WebSocket gemockt, used/remaining geprüft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Unit journeyLifecycle (Client)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Status live/upcoming/completed/draft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Steuert die UI-Darstellung einer Reise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Unit, Fake-Timer fixiert „heute“, alle Status-Fälle via it.each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Integration auth, vacay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Login setzt Session und schaltet /me frei, 401 bei falsch, Vacay-Toggle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Auth ist der Sicherheits-Kernpfad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Supertest, echter Login-Endpoint, Set-Cookie geprüft, /me mit Cookie 200, ohne 401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E2E login.flow, dashboard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Falsch-Login Fehlertext, Login erreicht Dashboard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Anmelde-Flow muss real korrekt sein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Cypress, Falsch-Login bleibt /login mit Fehler; cy.login (inkl. Passwortwechsel) erreicht /dashboard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Calibri"/>
                        </a:rPr>
                        <a:t>Load auth-login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Login-Spike auf bcrypt und Rate-Limiter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Hält der Schutz dem Ansturm stand?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k6 Spike bis 50 VUs, 200 und 429 als erwartet, p95- und Fehler-Schwellen, 429-Anteil als Metrik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Wie getestet: Unit und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Jest mit @swc/jest, damit NestJS-Decorators und DI im Test funktionieren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Integration mit Supertest gegen die echte NestApp, ohne echten Port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Isolation pro Testdatei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Eigene In-Memory-SQLite, DB/Config/WebSocket via jest.mock ersetzt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Frische App pro Datei, eigene Entitäten pro Test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Determinismus: Fake-Timer, jest.resetModules, jest.spyOn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Wie getestet: E2E und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Cypress fährt ein frisch geseedetes Wegwerf-Backend selbst hoch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cy.login behandelt den erzwungenen Erst-Passwortwechsel deterministisch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cacheAcrossSpecs: Login-Setup läuft nur einmal pro Lauf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800" b="1">
                <a:solidFill>
                  <a:srgbClr val="4F46E5"/>
                </a:solidFill>
                <a:latin typeface="Calibri"/>
              </a:rPr>
              <a:t>Sichtbares Ergebnis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4B5563"/>
                </a:solidFill>
                <a:latin typeface="Calibri"/>
              </a:rPr>
              <a:t>▸  HTML-Report als CI-Artefakt, plus Screenshots bei Fehlern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AUTOMATISIERUNG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CI/CD: eigener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943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wat-tests.yml, getrennt vom Upstream, läuft bei jedem PR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Vier Jobs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jest-server, jest-client, cypress, k6-load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  <a:latin typeface="Calibri"/>
              </a:rPr>
              <a:t>Artefakte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Coverage, Cypress-HTML-Report, k6-Summaries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4B5563"/>
                </a:solidFill>
                <a:latin typeface="Calibri"/>
              </a:rPr>
              <a:t>▸  k6-Reihenfolge: smoke, trips-read, dann auth-login</a:t>
            </a:r>
          </a:p>
        </p:txBody>
      </p:sp>
      <p:pic>
        <p:nvPicPr>
          <p:cNvPr id="6" name="Picture 5" descr="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51760"/>
            <a:ext cx="5029200" cy="256032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LAST-TESTS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Last-Tests mit k6: Art und Zweck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94360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dirty="0">
                <a:solidFill>
                  <a:srgbClr val="4F46E5"/>
                </a:solidFill>
                <a:latin typeface="Calibri"/>
              </a:rPr>
              <a:t>auth-login (Fabian): Spike, bis 50 VUs</a:t>
            </a: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4B5563"/>
                </a:solidFill>
                <a:latin typeface="Calibri"/>
              </a:rPr>
              <a:t>▸  Login-</a:t>
            </a:r>
            <a:r>
              <a:rPr sz="1700" b="0" dirty="0" err="1">
                <a:solidFill>
                  <a:srgbClr val="4B5563"/>
                </a:solidFill>
                <a:latin typeface="Calibri"/>
              </a:rPr>
              <a:t>Pfad</a:t>
            </a:r>
            <a:r>
              <a:rPr sz="1700" b="0" dirty="0">
                <a:solidFill>
                  <a:srgbClr val="4B5563"/>
                </a:solidFill>
                <a:latin typeface="Calibri"/>
              </a:rPr>
              <a:t>, </a:t>
            </a:r>
            <a:r>
              <a:rPr sz="1700" b="0" dirty="0" err="1">
                <a:solidFill>
                  <a:srgbClr val="4B5563"/>
                </a:solidFill>
                <a:latin typeface="Calibri"/>
              </a:rPr>
              <a:t>stresst</a:t>
            </a:r>
            <a:r>
              <a:rPr sz="1700" b="0" dirty="0">
                <a:solidFill>
                  <a:srgbClr val="4B5563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4B5563"/>
                </a:solidFill>
                <a:latin typeface="Calibri"/>
              </a:rPr>
              <a:t>bcrypt</a:t>
            </a:r>
            <a:r>
              <a:rPr sz="1700" b="0" dirty="0">
                <a:solidFill>
                  <a:srgbClr val="4B5563"/>
                </a:solidFill>
                <a:latin typeface="Calibri"/>
              </a:rPr>
              <a:t> und den Rate-Limiter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700" b="1" dirty="0">
                <a:solidFill>
                  <a:srgbClr val="4F46E5"/>
                </a:solidFill>
                <a:latin typeface="Calibri"/>
              </a:rPr>
              <a:t>trips-read (Lukas): Ramp, bis 20 VUs</a:t>
            </a: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4B5563"/>
                </a:solidFill>
                <a:latin typeface="Calibri"/>
              </a:rPr>
              <a:t>▸  Lese-</a:t>
            </a:r>
            <a:r>
              <a:rPr sz="1700" b="0" dirty="0" err="1">
                <a:solidFill>
                  <a:srgbClr val="4B5563"/>
                </a:solidFill>
                <a:latin typeface="Calibri"/>
              </a:rPr>
              <a:t>Latenz</a:t>
            </a:r>
            <a:r>
              <a:rPr sz="1700" b="0" dirty="0">
                <a:solidFill>
                  <a:srgbClr val="4B5563"/>
                </a:solidFill>
                <a:latin typeface="Calibri"/>
              </a:rPr>
              <a:t> auf /</a:t>
            </a:r>
            <a:r>
              <a:rPr sz="1700" b="0" dirty="0" err="1">
                <a:solidFill>
                  <a:srgbClr val="4B5563"/>
                </a:solidFill>
                <a:latin typeface="Calibri"/>
              </a:rPr>
              <a:t>api</a:t>
            </a:r>
            <a:r>
              <a:rPr sz="1700" b="0" dirty="0">
                <a:solidFill>
                  <a:srgbClr val="4B5563"/>
                </a:solidFill>
                <a:latin typeface="Calibri"/>
              </a:rPr>
              <a:t>/trips </a:t>
            </a:r>
            <a:r>
              <a:rPr sz="1700" b="0" dirty="0" err="1">
                <a:solidFill>
                  <a:srgbClr val="4B5563"/>
                </a:solidFill>
                <a:latin typeface="Calibri"/>
              </a:rPr>
              <a:t>unter</a:t>
            </a:r>
            <a:r>
              <a:rPr sz="1700" b="0" dirty="0">
                <a:solidFill>
                  <a:srgbClr val="4B5563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4B5563"/>
                </a:solidFill>
                <a:latin typeface="Calibri"/>
              </a:rPr>
              <a:t>steigender</a:t>
            </a:r>
            <a:r>
              <a:rPr sz="1700" b="0" dirty="0">
                <a:solidFill>
                  <a:srgbClr val="4B5563"/>
                </a:solidFill>
                <a:latin typeface="Calibri"/>
              </a:rPr>
              <a:t> Last</a:t>
            </a:r>
          </a:p>
        </p:txBody>
      </p:sp>
      <p:pic>
        <p:nvPicPr>
          <p:cNvPr id="6" name="Picture 5" descr="authloginsp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32409"/>
            <a:ext cx="5029200" cy="1958741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7" name="Picture 6" descr="tripsreadramp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026969"/>
            <a:ext cx="5029200" cy="1958741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AT" sz="1000" b="0" dirty="0">
                <a:solidFill>
                  <a:srgbClr val="6B7280"/>
                </a:solidFill>
                <a:latin typeface="Calibri"/>
              </a:rPr>
              <a:t>TREK | WAT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ERGEBNISSE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Last-Test-Ergebnisse und Analyse</a:t>
            </a:r>
          </a:p>
        </p:txBody>
      </p:sp>
      <p:pic>
        <p:nvPicPr>
          <p:cNvPr id="5" name="Picture 4" descr="authloginverteil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9056"/>
            <a:ext cx="5486400" cy="2425566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6" name="Picture 5" descr="tripsread-endpoi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755648"/>
            <a:ext cx="5486400" cy="3072384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074920"/>
            <a:ext cx="1115568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>
                <a:solidFill>
                  <a:srgbClr val="4B5563"/>
                </a:solidFill>
                <a:latin typeface="Calibri"/>
              </a:rPr>
              <a:t>auth-login</a:t>
            </a:r>
            <a:r>
              <a:rPr lang="de-AT" sz="1500" b="0" dirty="0">
                <a:solidFill>
                  <a:srgbClr val="4B5563"/>
                </a:solidFill>
                <a:latin typeface="Calibri"/>
              </a:rPr>
              <a:t>: </a:t>
            </a:r>
            <a:r>
              <a:rPr lang="de-AT" sz="1500" dirty="0">
                <a:solidFill>
                  <a:srgbClr val="4B5563"/>
                </a:solidFill>
                <a:latin typeface="Calibri"/>
              </a:rPr>
              <a:t>beinahe 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100% HTTP 429, der Rate-Limiter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wirft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 den Spike ab, bevor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bcrypt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läuft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. p95 6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ms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, 0% 5xx.</a:t>
            </a:r>
          </a:p>
          <a:p>
            <a:r>
              <a:rPr sz="1500" b="0" dirty="0">
                <a:solidFill>
                  <a:srgbClr val="4B5563"/>
                </a:solidFill>
                <a:latin typeface="Calibri"/>
              </a:rPr>
              <a:t>trips-read: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authentifizierte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 Reads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bleiben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unter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 Last schnell, p95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rund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 6 </a:t>
            </a:r>
            <a:r>
              <a:rPr sz="1500" b="0" dirty="0" err="1">
                <a:solidFill>
                  <a:srgbClr val="4B5563"/>
                </a:solidFill>
                <a:latin typeface="Calibri"/>
              </a:rPr>
              <a:t>ms</a:t>
            </a:r>
            <a:r>
              <a:rPr sz="1500" b="0" dirty="0">
                <a:solidFill>
                  <a:srgbClr val="4B5563"/>
                </a:solidFill>
                <a:latin typeface="Calibri"/>
              </a:rPr>
              <a:t> pro Endpoint, 0% Fehler.</a:t>
            </a:r>
          </a:p>
          <a:p>
            <a:r>
              <a:rPr sz="1500" b="1" dirty="0">
                <a:solidFill>
                  <a:srgbClr val="4F46E5"/>
                </a:solidFill>
                <a:latin typeface="Calibri"/>
              </a:rPr>
              <a:t>Fazit: Der </a:t>
            </a:r>
            <a:r>
              <a:rPr sz="1500" b="1" dirty="0" err="1">
                <a:solidFill>
                  <a:srgbClr val="4F46E5"/>
                </a:solidFill>
                <a:latin typeface="Calibri"/>
              </a:rPr>
              <a:t>Engpass</a:t>
            </a:r>
            <a:r>
              <a:rPr sz="1500" b="1" dirty="0">
                <a:solidFill>
                  <a:srgbClr val="4F46E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4F46E5"/>
                </a:solidFill>
                <a:latin typeface="Calibri"/>
              </a:rPr>
              <a:t>ist</a:t>
            </a:r>
            <a:r>
              <a:rPr sz="1500" b="1" dirty="0">
                <a:solidFill>
                  <a:srgbClr val="4F46E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4F46E5"/>
                </a:solidFill>
                <a:latin typeface="Calibri"/>
              </a:rPr>
              <a:t>bewusst</a:t>
            </a:r>
            <a:r>
              <a:rPr sz="1500" b="1" dirty="0">
                <a:solidFill>
                  <a:srgbClr val="4F46E5"/>
                </a:solidFill>
                <a:latin typeface="Calibri"/>
              </a:rPr>
              <a:t> der Limiter, nicht der Hash-</a:t>
            </a:r>
            <a:r>
              <a:rPr sz="1500" b="1" dirty="0" err="1">
                <a:solidFill>
                  <a:srgbClr val="4F46E5"/>
                </a:solidFill>
                <a:latin typeface="Calibri"/>
              </a:rPr>
              <a:t>Pfad</a:t>
            </a:r>
            <a:r>
              <a:rPr sz="1500" b="1" dirty="0">
                <a:solidFill>
                  <a:srgbClr val="4F46E5"/>
                </a:solidFill>
                <a:latin typeface="Calibri"/>
              </a:rPr>
              <a:t>. Reads </a:t>
            </a:r>
            <a:r>
              <a:rPr sz="1500" b="1" dirty="0" err="1">
                <a:solidFill>
                  <a:srgbClr val="4F46E5"/>
                </a:solidFill>
                <a:latin typeface="Calibri"/>
              </a:rPr>
              <a:t>skalieren</a:t>
            </a:r>
            <a:r>
              <a:rPr sz="1500" b="1" dirty="0">
                <a:solidFill>
                  <a:srgbClr val="4F46E5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4F46E5"/>
                </a:solidFill>
                <a:latin typeface="Calibri"/>
              </a:rPr>
              <a:t>sauber</a:t>
            </a:r>
            <a:r>
              <a:rPr sz="1500" b="1" dirty="0">
                <a:solidFill>
                  <a:srgbClr val="4F46E5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F46E5"/>
                </a:solidFill>
                <a:latin typeface="Calibri"/>
              </a:rPr>
              <a:t>ABSCHLUSS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F2937"/>
                </a:solidFill>
                <a:latin typeface="Calibri"/>
              </a:rPr>
              <a:t>Fazit: getestet, isoliert, automatisiert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84448" cy="292608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bIns="164592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Nicht nur der Happy-Path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Wir testen gezielt die riskanten Stellen: Berechtigungen (403/404), Falsch-Login (401) und Randfälle wie Rundung, Stornos oder Ausfall des Kurs-Dienstes.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920240"/>
            <a:ext cx="3584448" cy="292608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bIns="164592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Isoliert und automatisiert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Eigener Teststack neben rund 390 Bestandstests, ohne Kollision. Jeder Test mit eigener In-Memory-DB. Bei jedem PR grün, mit Report-, Coverage- und k6-Artefakten.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57615" y="1920240"/>
            <a:ext cx="3584448" cy="2926080"/>
          </a:xfrm>
          <a:prstGeom prst="roundRect">
            <a:avLst>
              <a:gd name="adj" fmla="val 6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219456" rIns="219456" bIns="164592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Calibri"/>
              </a:rPr>
              <a:t>Schutz nachgewiesen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Login-Spike mit 50 VUs: nur 10 von 447.306 Logins kamen durch. Der Rate-Limiter fängt den Ansturm ab, bevor bcrypt läuft. p95 6 ms, 0 Fehler.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8130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B7280"/>
                </a:solidFill>
                <a:latin typeface="Calibri"/>
              </a:rPr>
              <a:t>TREK </a:t>
            </a:r>
            <a:r>
              <a:rPr lang="de-AT" sz="1000" dirty="0">
                <a:solidFill>
                  <a:srgbClr val="6B7280"/>
                </a:solidFill>
                <a:latin typeface="Calibri"/>
              </a:rPr>
              <a:t>| WAT</a:t>
            </a:r>
            <a:endParaRPr sz="10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38560" y="641908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Microsoft Macintosh PowerPoint</Application>
  <PresentationFormat>Breitbild</PresentationFormat>
  <Paragraphs>166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Luttenberger Fabian - s2410307023</cp:lastModifiedBy>
  <cp:revision>4</cp:revision>
  <dcterms:created xsi:type="dcterms:W3CDTF">2013-01-27T09:14:16Z</dcterms:created>
  <dcterms:modified xsi:type="dcterms:W3CDTF">2026-06-26T21:39:12Z</dcterms:modified>
  <cp:category/>
</cp:coreProperties>
</file>